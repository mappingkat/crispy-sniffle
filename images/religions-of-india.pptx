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315200" cy="10972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50" d="100"/>
          <a:sy n="50" d="100"/>
        </p:scale>
        <p:origin x="-1854" y="-60"/>
      </p:cViewPr>
      <p:guideLst>
        <p:guide orient="horz" pos="3456"/>
        <p:guide pos="23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408681"/>
            <a:ext cx="6217920" cy="2352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6217920"/>
            <a:ext cx="5120640" cy="28041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7051041"/>
            <a:ext cx="6217920" cy="217932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0" y="4650742"/>
            <a:ext cx="6217920" cy="24002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2560321"/>
            <a:ext cx="3230880" cy="72415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8560" y="2560321"/>
            <a:ext cx="3230880" cy="72415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2456181"/>
            <a:ext cx="3232150" cy="10236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760" y="3479800"/>
            <a:ext cx="3232150" cy="632206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16020" y="2456181"/>
            <a:ext cx="3233420" cy="10236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16020" y="3479800"/>
            <a:ext cx="3233420" cy="632206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1" y="436880"/>
            <a:ext cx="2406650" cy="18592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0040" y="436881"/>
            <a:ext cx="4089400" cy="93649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1" y="2296161"/>
            <a:ext cx="2406650" cy="750570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830" y="7680960"/>
            <a:ext cx="4389120" cy="9067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33830" y="980440"/>
            <a:ext cx="4389120" cy="65836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3830" y="8587741"/>
            <a:ext cx="4389120" cy="12877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03520" y="439422"/>
            <a:ext cx="1645920" cy="936244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760" y="439422"/>
            <a:ext cx="4815840" cy="93624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0" y="439421"/>
            <a:ext cx="6583680" cy="182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2560321"/>
            <a:ext cx="6583680" cy="7241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10170161"/>
            <a:ext cx="17068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2031E-44E7-4159-A20D-8C2D8EB4653E}" type="datetimeFigureOut">
              <a:rPr lang="en-US" smtClean="0"/>
              <a:pPr/>
              <a:t>2/4/2012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9360" y="10170161"/>
            <a:ext cx="23164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42560" y="10170161"/>
            <a:ext cx="17068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FFBD0-29A3-4560-A3CA-7D496EDA5F2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Punched Tape 29"/>
          <p:cNvSpPr/>
          <p:nvPr/>
        </p:nvSpPr>
        <p:spPr>
          <a:xfrm rot="9525759">
            <a:off x="3975755" y="962976"/>
            <a:ext cx="3453805" cy="1282943"/>
          </a:xfrm>
          <a:prstGeom prst="flowChartPunchedTap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Flowchart: Punched Tape 27"/>
          <p:cNvSpPr/>
          <p:nvPr/>
        </p:nvSpPr>
        <p:spPr>
          <a:xfrm rot="11366691">
            <a:off x="3827222" y="1913684"/>
            <a:ext cx="3467475" cy="1282943"/>
          </a:xfrm>
          <a:prstGeom prst="flowChartPunchedTap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Block Arc 24"/>
          <p:cNvSpPr/>
          <p:nvPr/>
        </p:nvSpPr>
        <p:spPr>
          <a:xfrm rot="6966640">
            <a:off x="3195071" y="4414272"/>
            <a:ext cx="3124200" cy="3124200"/>
          </a:xfrm>
          <a:prstGeom prst="blockArc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Flowchart: Punched Tape 23"/>
          <p:cNvSpPr/>
          <p:nvPr/>
        </p:nvSpPr>
        <p:spPr>
          <a:xfrm rot="9765603">
            <a:off x="3504029" y="3844206"/>
            <a:ext cx="4345989" cy="1662062"/>
          </a:xfrm>
          <a:prstGeom prst="flowChartPunchedTap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Flowchart: Punched Tape 21"/>
          <p:cNvSpPr/>
          <p:nvPr/>
        </p:nvSpPr>
        <p:spPr>
          <a:xfrm rot="2084606">
            <a:off x="-993158" y="5664170"/>
            <a:ext cx="5349514" cy="1662062"/>
          </a:xfrm>
          <a:prstGeom prst="flowChartPunchedTap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Flowchart: Punched Tape 22"/>
          <p:cNvSpPr/>
          <p:nvPr/>
        </p:nvSpPr>
        <p:spPr>
          <a:xfrm rot="445659">
            <a:off x="-135518" y="7605497"/>
            <a:ext cx="3420202" cy="1662062"/>
          </a:xfrm>
          <a:prstGeom prst="flowChartPunchedTap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Flowchart: Punched Tape 20"/>
          <p:cNvSpPr/>
          <p:nvPr/>
        </p:nvSpPr>
        <p:spPr>
          <a:xfrm rot="2084606">
            <a:off x="-640863" y="1286195"/>
            <a:ext cx="4525424" cy="1031641"/>
          </a:xfrm>
          <a:prstGeom prst="flowChartPunchedTap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Double Wave 18"/>
          <p:cNvSpPr/>
          <p:nvPr/>
        </p:nvSpPr>
        <p:spPr>
          <a:xfrm rot="16200000">
            <a:off x="-1485900" y="4381500"/>
            <a:ext cx="10210800" cy="2971800"/>
          </a:xfrm>
          <a:prstGeom prst="doubleWav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7315200" cy="85851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Religions of India</a:t>
            </a:r>
            <a:r>
              <a:rPr lang="en-US" sz="1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Fed  by many sources, branch off from flowing river</a:t>
            </a:r>
            <a:br>
              <a:rPr lang="en-US" sz="1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62200" y="990600"/>
            <a:ext cx="28873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VEDIC RELIGIONS</a:t>
            </a:r>
          </a:p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ryans)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2200" y="2209800"/>
            <a:ext cx="2667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UPANISHADS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(monotheism) one spirit under all humanity (BRAHMAN)</a:t>
            </a:r>
          </a:p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939346">
            <a:off x="1" y="1066800"/>
            <a:ext cx="2514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AUTOCHTONOUS RELIGIONS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“religions of soil” regional traditions, 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indigenous ideas of ritual,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incorporated into Hinduism as develops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 rot="20041563">
            <a:off x="4449632" y="1088968"/>
            <a:ext cx="327112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HETERODOX RELIGIONS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(effect Brahminical Hinduism, 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respond to challenge of hegemony,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patronage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62200" y="3352800"/>
            <a:ext cx="251222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BRAHMINICAL </a:t>
            </a:r>
          </a:p>
          <a:p>
            <a:pPr algn="ctr"/>
            <a:r>
              <a:rPr lang="en-US" sz="3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HINDUISM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Saguna Ram (Adyodha)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730787">
            <a:off x="5148600" y="2069206"/>
            <a:ext cx="20927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JAINSM</a:t>
            </a:r>
          </a:p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not regard Vedas</a:t>
            </a:r>
          </a:p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as authoritative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rot="20398599">
            <a:off x="3384360" y="4023522"/>
            <a:ext cx="45638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BUDDHISM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Buddha believed in karma, reincarnation, sought freedom from life/death, desire traps us, Developed path of own freedom, on decline without Ambedkar, 12</a:t>
            </a:r>
            <a:r>
              <a:rPr lang="en-US" sz="1000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</a:t>
            </a:r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century Muslims killed, Buddhists; disregard caste but other things affirmed; untouchables embrace Buddhism and were persecuted (Ambedkar’s narrative)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rot="1295862">
            <a:off x="-332338" y="5898014"/>
            <a:ext cx="4801301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ISLAM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God  cannot be embodied, mantra, </a:t>
            </a:r>
          </a:p>
          <a:p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Ram, disclose truth that divine present, </a:t>
            </a:r>
          </a:p>
          <a:p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saturate reality</a:t>
            </a: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	</a:t>
            </a:r>
            <a:r>
              <a:rPr lang="en-US" sz="25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KABIN PANTH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8077200"/>
            <a:ext cx="431060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CHRISTIANITY </a:t>
            </a:r>
            <a:r>
              <a:rPr lang="en-US" sz="25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SATNAMIS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09800" y="9296400"/>
            <a:ext cx="285417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MODERN REFORMED</a:t>
            </a:r>
          </a:p>
          <a:p>
            <a:pPr algn="ctr"/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HINDUISM</a:t>
            </a:r>
          </a:p>
          <a:p>
            <a:pPr algn="ctr"/>
            <a:r>
              <a: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Saguna Ram (Adyodha)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62600" y="7467600"/>
            <a:ext cx="1752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Tendency for low caste to practice NIRGUNA (no forms); Upper caste saguna (give body to God), many low; Caste movements, group gains new ideology, world view, vehicle </a:t>
            </a:r>
          </a:p>
          <a:p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For transformation</a:t>
            </a:r>
          </a:p>
        </p:txBody>
      </p:sp>
      <p:sp>
        <p:nvSpPr>
          <p:cNvPr id="26" name="TextBox 25"/>
          <p:cNvSpPr txBox="1"/>
          <p:nvPr/>
        </p:nvSpPr>
        <p:spPr>
          <a:xfrm rot="18753455">
            <a:off x="5100255" y="5986632"/>
            <a:ext cx="13558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AHIMSA</a:t>
            </a:r>
          </a:p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Nonviolence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192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Religions of India Fed  by many sources, branch off from flowing river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Religions of India</dc:title>
  <dc:creator>Your User Name</dc:creator>
  <cp:lastModifiedBy>Your User Name</cp:lastModifiedBy>
  <cp:revision>12</cp:revision>
  <dcterms:created xsi:type="dcterms:W3CDTF">2009-06-29T00:36:49Z</dcterms:created>
  <dcterms:modified xsi:type="dcterms:W3CDTF">2012-02-04T06:58:18Z</dcterms:modified>
</cp:coreProperties>
</file>